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F2E"/>
                </a:solidFill>
                <a:latin typeface="Arial"/>
              </a:rPr>
              <a:t>STARFORGE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IDEA SUBMISSION — 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01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4A8FE0"/>
                </a:solidFill>
                <a:latin typeface="Arial"/>
              </a:rPr>
              <a:t>STARFORGE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30352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— HACKATHON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Title Partner:   Pathway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17320"/>
            <a:ext cx="786384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</a:rPr>
              <a:t>Problem Statement — </a:t>
            </a:r>
            <a:r>
              <a:rPr sz="1600" b="0">
                <a:solidFill>
                  <a:srgbClr val="2E6BD6"/>
                </a:solidFill>
                <a:latin typeface="Arial"/>
              </a:rPr>
              <a:t>Build a working voice agent where Rime-generated speech drives the main interaction and Qdrant gives the system a real job (knowledge, memory, or routing) — not a chatbot with a microphone bolted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12848"/>
            <a:ext cx="786384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</a:rPr>
              <a:t>Round — </a:t>
            </a:r>
            <a:r>
              <a:rPr sz="1600" b="1">
                <a:solidFill>
                  <a:srgbClr val="1A1A1A"/>
                </a:solidFill>
                <a:latin typeface="Arial"/>
              </a:rPr>
              <a:t>Round 1 (Online Submission)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06624"/>
            <a:ext cx="786384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</a:rPr>
              <a:t>Track: </a:t>
            </a:r>
            <a:r>
              <a:rPr sz="1600" b="1">
                <a:solidFill>
                  <a:srgbClr val="1A1A1A"/>
                </a:solidFill>
                <a:latin typeface="Arial"/>
              </a:rPr>
              <a:t>VoxForge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200400"/>
            <a:ext cx="786384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</a:rPr>
              <a:t>Team Name (Registered on portal) — </a:t>
            </a:r>
            <a:r>
              <a:rPr sz="1600" b="1">
                <a:solidFill>
                  <a:srgbClr val="1A1A1A"/>
                </a:solidFill>
                <a:latin typeface="Arial"/>
              </a:rPr>
              <a:t>VectorVoice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694176"/>
            <a:ext cx="786384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</a:rPr>
              <a:t>Team Leader (Name) — </a:t>
            </a:r>
            <a:r>
              <a:rPr sz="1600" b="1">
                <a:solidFill>
                  <a:srgbClr val="1A1A1A"/>
                </a:solidFill>
                <a:latin typeface="Arial"/>
              </a:rPr>
              <a:t>Khush Aggarwal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187952"/>
            <a:ext cx="786384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</a:rPr>
              <a:t>Team Leader (Contact Number) — </a:t>
            </a:r>
            <a:r>
              <a:rPr sz="1600" b="1">
                <a:solidFill>
                  <a:srgbClr val="1A1A1A"/>
                </a:solidFill>
                <a:latin typeface="Arial"/>
              </a:rPr>
              <a:t>+91 9711951593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4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STARFORGE HACKATHON 2026  —  IDEA SUBMISSION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4710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CB34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F2E"/>
                </a:solidFill>
                <a:latin typeface="Arial"/>
              </a:rPr>
              <a:t>IDEA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777240"/>
            <a:ext cx="6035040" cy="27940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01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4A8FE0"/>
                </a:solidFill>
                <a:latin typeface="Arial"/>
              </a:rPr>
              <a:t>STARFORGE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50292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— HACKATHON —</a:t>
            </a:r>
          </a:p>
        </p:txBody>
      </p:sp>
      <p:sp>
        <p:nvSpPr>
          <p:cNvPr id="7" name="Oval 6"/>
          <p:cNvSpPr/>
          <p:nvPr/>
        </p:nvSpPr>
        <p:spPr>
          <a:xfrm>
            <a:off x="9784080" y="777240"/>
            <a:ext cx="2011680" cy="384048"/>
          </a:xfrm>
          <a:prstGeom prst="ellipse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i="1">
                <a:solidFill>
                  <a:srgbClr val="555555"/>
                </a:solidFill>
                <a:latin typeface="Arial"/>
              </a:rPr>
              <a:t>VectorVoice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1">
                <a:solidFill>
                  <a:srgbClr val="2E6BD6"/>
                </a:solidFill>
                <a:latin typeface="Arial"/>
              </a:rPr>
              <a:t>ATHENAEUM — “YOUR LIBRARY, NOW YOU CAN TALK TO IT.”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54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2E6BD6"/>
                </a:solidFill>
                <a:latin typeface="Arial"/>
              </a:rPr>
              <a:t>Proposed Solution (Describe your Idea / Solution / Prototype)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11680"/>
            <a:ext cx="1124712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Detailed explanation: </a:t>
            </a:r>
            <a:r>
              <a:rPr sz="1600">
                <a:solidFill>
                  <a:srgbClr val="1A1A1A"/>
                </a:solidFill>
                <a:latin typeface="Arial"/>
              </a:rPr>
              <a:t>A voice-first AI library assistant — patrons speak naturally (“find me something beginner-friendly about AI”) instead of typing exact titles/keywords. Rime speaks every response back; the whole loop is voice-in, voice-out.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How it addresses the problem: </a:t>
            </a:r>
            <a:r>
              <a:rPr sz="1600">
                <a:solidFill>
                  <a:srgbClr val="1A1A1A"/>
                </a:solidFill>
                <a:latin typeface="Arial"/>
              </a:rPr>
              <a:t>Rime (Mist/Coda) drives 100% of spoken output — not a decorative add-on. Qdrant does three real jobs: semantic book retrieval, similar-book recommendation, and per-user preference memory, each isolated by a userId payload filter.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Innovation and uniqueness: </a:t>
            </a:r>
            <a:r>
              <a:rPr sz="1600">
                <a:solidFill>
                  <a:srgbClr val="1A1A1A"/>
                </a:solidFill>
                <a:latin typeface="Arial"/>
              </a:rPr>
              <a:t>Barge-in interruption (user can talk over the assistant mid-sentence and it stops instantly), grounded tool-calling agent (Gemini) that never invents a book, and a memory system so “remember I like sci-fi” actually changes future recommendations.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4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STARFORGE HACKATHON 2026  —  IDEA SUBMISSION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4710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CB34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F2E"/>
                </a:solidFill>
                <a:latin typeface="Arial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777240"/>
            <a:ext cx="6035040" cy="27940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01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4A8FE0"/>
                </a:solidFill>
                <a:latin typeface="Arial"/>
              </a:rPr>
              <a:t>STARFORGE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50292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— HACKATHON —</a:t>
            </a:r>
          </a:p>
        </p:txBody>
      </p:sp>
      <p:sp>
        <p:nvSpPr>
          <p:cNvPr id="7" name="Oval 6"/>
          <p:cNvSpPr/>
          <p:nvPr/>
        </p:nvSpPr>
        <p:spPr>
          <a:xfrm>
            <a:off x="9784080" y="777240"/>
            <a:ext cx="2011680" cy="384048"/>
          </a:xfrm>
          <a:prstGeom prst="ellipse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i="1">
                <a:solidFill>
                  <a:srgbClr val="555555"/>
                </a:solidFill>
                <a:latin typeface="Arial"/>
              </a:rPr>
              <a:t>VectorVoice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112471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•  </a:t>
            </a:r>
            <a:r>
              <a:rPr sz="1500" b="1">
                <a:solidFill>
                  <a:srgbClr val="1A1A1A"/>
                </a:solidFill>
                <a:latin typeface="Arial"/>
              </a:rPr>
              <a:t>Technologies: </a:t>
            </a:r>
            <a:r>
              <a:rPr sz="1500">
                <a:solidFill>
                  <a:srgbClr val="1A1A1A"/>
                </a:solidFill>
                <a:latin typeface="Arial"/>
              </a:rPr>
              <a:t>Next.js 15 (TypeScript, App Router) full-stack; Rime REST streaming TTS (Mist v3 model, server-side only — key never touches the client); Qdrant Cloud (768-dim, Cosine) for two collections — library_books and user_memory; Gemini 2.5 (tool-calling agent + gemini-embedding-001); browser-native Web Speech API for STT.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31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2E6BD6"/>
                </a:solidFill>
                <a:latin typeface="Arial"/>
              </a:rPr>
              <a:t>Methodology / process for implementation: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1691640" cy="77724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41F2E"/>
                </a:solidFill>
                <a:latin typeface="Arial"/>
              </a:rPr>
              <a:t>Mic (STT)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48840" y="3063240"/>
            <a:ext cx="256032" cy="228600"/>
          </a:xfrm>
          <a:prstGeom prst="rightArrow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04872" y="2788920"/>
            <a:ext cx="1691640" cy="777240"/>
          </a:xfrm>
          <a:prstGeom prst="roundRect">
            <a:avLst/>
          </a:prstGeom>
          <a:solidFill>
            <a:srgbClr val="EEF3DD"/>
          </a:solidFill>
          <a:ln w="12700">
            <a:solidFill>
              <a:srgbClr val="2E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41F2E"/>
                </a:solidFill>
                <a:latin typeface="Arial"/>
              </a:rPr>
              <a:t>Agent API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6512" y="3063240"/>
            <a:ext cx="256032" cy="228600"/>
          </a:xfrm>
          <a:prstGeom prst="rightArrow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2788920"/>
            <a:ext cx="1691640" cy="77724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41F2E"/>
                </a:solidFill>
                <a:latin typeface="Arial"/>
              </a:rPr>
              <a:t>Gemini
tool-calls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44184" y="3063240"/>
            <a:ext cx="256032" cy="228600"/>
          </a:xfrm>
          <a:prstGeom prst="rightArrow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0216" y="2788920"/>
            <a:ext cx="1691640" cy="777240"/>
          </a:xfrm>
          <a:prstGeom prst="roundRect">
            <a:avLst/>
          </a:prstGeom>
          <a:solidFill>
            <a:srgbClr val="EEF3DD"/>
          </a:solidFill>
          <a:ln w="12700">
            <a:solidFill>
              <a:srgbClr val="2E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41F2E"/>
                </a:solidFill>
                <a:latin typeface="Arial"/>
              </a:rPr>
              <a:t>Qdrant
retrieval /
memory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91856" y="3063240"/>
            <a:ext cx="256032" cy="228600"/>
          </a:xfrm>
          <a:prstGeom prst="rightArrow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788920"/>
            <a:ext cx="1691640" cy="77724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41F2E"/>
                </a:solidFill>
                <a:latin typeface="Arial"/>
              </a:rPr>
              <a:t>Rime TTS
(stream)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939528" y="3063240"/>
            <a:ext cx="256032" cy="228600"/>
          </a:xfrm>
          <a:prstGeom prst="rightArrow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95560" y="2788920"/>
            <a:ext cx="1691640" cy="777240"/>
          </a:xfrm>
          <a:prstGeom prst="roundRect">
            <a:avLst/>
          </a:prstGeom>
          <a:solidFill>
            <a:srgbClr val="EEF3DD"/>
          </a:solidFill>
          <a:ln w="12700">
            <a:solidFill>
              <a:srgbClr val="2E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41F2E"/>
                </a:solidFill>
                <a:latin typeface="Arial"/>
              </a:rPr>
              <a:t>Spoken
reply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886200"/>
            <a:ext cx="112471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Barge-in: </a:t>
            </a:r>
            <a:r>
              <a:rPr sz="1300">
                <a:solidFill>
                  <a:srgbClr val="1A1A1A"/>
                </a:solidFill>
                <a:latin typeface="Arial"/>
              </a:rPr>
              <a:t>Web Speech API's onSpeechStart fires the instant voice energy is detected; if the assistant is speaking, playback + fetch are aborted immediately and state flips to listening.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Grounded agent loop: </a:t>
            </a:r>
            <a:r>
              <a:rPr sz="1300">
                <a:solidFill>
                  <a:srgbClr val="1A1A1A"/>
                </a:solidFill>
                <a:latin typeface="Arial"/>
              </a:rPr>
              <a:t>Gemini picks from 6 tools (search_books, get_book, recommend_books, check_availability, get_user_memory, save_user_memory) and replays function-call turns verbatim (including thought_signature) so multi-round tool chains stay valid.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Demo/live duality: </a:t>
            </a:r>
            <a:r>
              <a:rPr sz="1300">
                <a:solidFill>
                  <a:srgbClr val="1A1A1A"/>
                </a:solidFill>
                <a:latin typeface="Arial"/>
              </a:rPr>
              <a:t>Every external call (Rime / Qdrant / Gemini) is wrapped so a missing key or failed call falls back to deterministic demo data, tagged mode: “live” | “demo” — never silently fakes a working integration.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4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STARFORGE HACKATHON 2026  —  IDEA SUBMISSION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4710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CB34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F2E"/>
                </a:solidFill>
                <a:latin typeface="Arial"/>
              </a:rP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777240"/>
            <a:ext cx="6035040" cy="27940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01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4A8FE0"/>
                </a:solidFill>
                <a:latin typeface="Arial"/>
              </a:rPr>
              <a:t>STARFORGE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50292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— HACKATHON —</a:t>
            </a:r>
          </a:p>
        </p:txBody>
      </p:sp>
      <p:sp>
        <p:nvSpPr>
          <p:cNvPr id="7" name="Oval 6"/>
          <p:cNvSpPr/>
          <p:nvPr/>
        </p:nvSpPr>
        <p:spPr>
          <a:xfrm>
            <a:off x="9784080" y="777240"/>
            <a:ext cx="2011680" cy="384048"/>
          </a:xfrm>
          <a:prstGeom prst="ellipse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i="1">
                <a:solidFill>
                  <a:srgbClr val="555555"/>
                </a:solidFill>
                <a:latin typeface="Arial"/>
              </a:rPr>
              <a:t>VectorVoice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1124712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•  </a:t>
            </a:r>
            <a:r>
              <a:rPr sz="1500" b="1">
                <a:solidFill>
                  <a:srgbClr val="1A1A1A"/>
                </a:solidFill>
                <a:latin typeface="Arial"/>
              </a:rPr>
              <a:t>Feasibility — already working end-to-end: </a:t>
            </a:r>
            <a:r>
              <a:rPr sz="1500">
                <a:solidFill>
                  <a:srgbClr val="1A1A1A"/>
                </a:solidFill>
                <a:latin typeface="Arial"/>
              </a:rPr>
              <a:t>Live production deployment on Vercel with real Rime audio streaming, real Qdrant semantic search over 142 embedded books, and a real Gemini tool-calling agent — this is not a mockup.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•  </a:t>
            </a:r>
            <a:r>
              <a:rPr sz="1500" b="1">
                <a:solidFill>
                  <a:srgbClr val="1A1A1A"/>
                </a:solidFill>
                <a:latin typeface="Arial"/>
              </a:rPr>
              <a:t>Potential challenges: </a:t>
            </a:r>
            <a:r>
              <a:rPr sz="1500">
                <a:solidFill>
                  <a:srgbClr val="1A1A1A"/>
                </a:solidFill>
                <a:latin typeface="Arial"/>
              </a:rPr>
              <a:t>(1) Gemini free-tier daily quota (20 req/day) can throttle heavy demo use; (2) Qdrant requires explicit payload indexes per filtered field or filtered queries 400; (3) newer Gemini models require replaying the exact thought_signature on multi-turn tool calls or the next call is rejected; (4) Web Speech API only works reliably in Chromium browsers.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A1A1A"/>
                </a:solidFill>
                <a:latin typeface="Arial"/>
              </a:rPr>
              <a:t>•  </a:t>
            </a:r>
            <a:r>
              <a:rPr sz="1500" b="1">
                <a:solidFill>
                  <a:srgbClr val="1A1A1A"/>
                </a:solidFill>
                <a:latin typeface="Arial"/>
              </a:rPr>
              <a:t>Strategies for overcoming these: </a:t>
            </a:r>
            <a:r>
              <a:rPr sz="1500">
                <a:solidFill>
                  <a:srgbClr val="1A1A1A"/>
                </a:solidFill>
                <a:latin typeface="Arial"/>
              </a:rPr>
              <a:t>Automatic, visible demo-mode fallback (keyword search + rule-based routing) keeps the product always-demoable even mid-quota-exhaustion; ensureMemoryUserIdIndex() self-heals the Qdrant index on first use; the orchestrator replays the model's raw response content verbatim instead of reconstructing it; the UI detects unsupported browsers and shows a clear message instead of failing silently.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4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STARFORGE HACKATHON 2026  —  IDEA SUBMISSION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4710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CB34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41F2E"/>
                </a:solidFill>
                <a:latin typeface="Arial"/>
              </a:rP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777240"/>
            <a:ext cx="6035040" cy="27940"/>
          </a:xfrm>
          <a:prstGeom prst="rect">
            <a:avLst/>
          </a:prstGeom>
          <a:solidFill>
            <a:srgbClr val="9AB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011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4A8FE0"/>
                </a:solidFill>
                <a:latin typeface="Arial"/>
              </a:rPr>
              <a:t>STARFORGE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50292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— HACKATHON —</a:t>
            </a:r>
          </a:p>
        </p:txBody>
      </p:sp>
      <p:sp>
        <p:nvSpPr>
          <p:cNvPr id="7" name="Oval 6"/>
          <p:cNvSpPr/>
          <p:nvPr/>
        </p:nvSpPr>
        <p:spPr>
          <a:xfrm>
            <a:off x="9784080" y="777240"/>
            <a:ext cx="2011680" cy="384048"/>
          </a:xfrm>
          <a:prstGeom prst="ellipse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i="1">
                <a:solidFill>
                  <a:srgbClr val="555555"/>
                </a:solidFill>
                <a:latin typeface="Arial"/>
              </a:rPr>
              <a:t>VectorVoice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1124712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1A1A1A"/>
                </a:solidFill>
                <a:latin typeface="Arial"/>
              </a:rPr>
              <a:t>•  </a:t>
            </a:r>
            <a:r>
              <a:rPr sz="1400" b="1">
                <a:solidFill>
                  <a:srgbClr val="1A1A1A"/>
                </a:solidFill>
                <a:latin typeface="Arial"/>
              </a:rPr>
              <a:t>Potential impact on the target audience: </a:t>
            </a:r>
            <a:r>
              <a:rPr sz="1400">
                <a:solidFill>
                  <a:srgbClr val="1A1A1A"/>
                </a:solidFill>
                <a:latin typeface="Arial"/>
              </a:rPr>
              <a:t>Library patrons who don't know exact titles/authors (students, casual readers, visually impaired users) can find and borrow books through natural conversation instead of keyword search — voice removes the “you have to already know what you're looking for” barrier of a traditional catalog.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1A1A1A"/>
                </a:solidFill>
                <a:latin typeface="Arial"/>
              </a:rPr>
              <a:t>•  </a:t>
            </a:r>
            <a:r>
              <a:rPr sz="1400" b="1">
                <a:solidFill>
                  <a:srgbClr val="1A1A1A"/>
                </a:solidFill>
                <a:latin typeface="Arial"/>
              </a:rPr>
              <a:t>Accessibility: </a:t>
            </a:r>
            <a:r>
              <a:rPr sz="1400">
                <a:solidFill>
                  <a:srgbClr val="1A1A1A"/>
                </a:solidFill>
                <a:latin typeface="Arial"/>
              </a:rPr>
              <a:t>Hands-free, screen-free interaction benefits visually impaired patrons and anyone for whom typing is a barrier; the assistant reads locations, availability, and recommendations aloud with grounded, explainable reasoning (“I recommended this because...”).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1A1A1A"/>
                </a:solidFill>
                <a:latin typeface="Arial"/>
              </a:rPr>
              <a:t>•  </a:t>
            </a:r>
            <a:r>
              <a:rPr sz="1400" b="1">
                <a:solidFill>
                  <a:srgbClr val="1A1A1A"/>
                </a:solidFill>
                <a:latin typeface="Arial"/>
              </a:rPr>
              <a:t>Economic / operational: </a:t>
            </a:r>
            <a:r>
              <a:rPr sz="1400">
                <a:solidFill>
                  <a:srgbClr val="1A1A1A"/>
                </a:solidFill>
                <a:latin typeface="Arial"/>
              </a:rPr>
              <a:t>Reduces librarian time spent on repetitive “do you have a book about...” queries; scales to any library's real catalog by re-running the ingestion pipeline against their own metadata.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1A1A1A"/>
                </a:solidFill>
                <a:latin typeface="Arial"/>
              </a:rPr>
              <a:t>•  </a:t>
            </a:r>
            <a:r>
              <a:rPr sz="1400" b="1">
                <a:solidFill>
                  <a:srgbClr val="1A1A1A"/>
                </a:solidFill>
                <a:latin typeface="Arial"/>
              </a:rPr>
              <a:t>Trust and continuity: </a:t>
            </a:r>
            <a:r>
              <a:rPr sz="1400">
                <a:solidFill>
                  <a:srgbClr val="1A1A1A"/>
                </a:solidFill>
                <a:latin typeface="Arial"/>
              </a:rPr>
              <a:t>Personalized memory (“remember I like sci-fi under 300 pages”) persists across sessions, so recommendations improve over time instead of starting from zero on every visit — directly addressing StarForge's “never start from zero” mission.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4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STARFORGE HACKATHON 2026  —  IDEA SUBMISSION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47104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CB34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